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Casual Users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9.8</c:v>
                </c:pt>
                <c:pt idx="1">
                  <c:v>6.3</c:v>
                </c:pt>
                <c:pt idx="2">
                  <c:v>4.7</c:v>
                </c:pt>
                <c:pt idx="3">
                  <c:v>2.5</c:v>
                </c:pt>
                <c:pt idx="4">
                  <c:v>1.2</c:v>
                </c:pt>
                <c:pt idx="5">
                  <c:v>1.4</c:v>
                </c:pt>
                <c:pt idx="6">
                  <c:v>4.3</c:v>
                </c:pt>
                <c:pt idx="7">
                  <c:v>11.1</c:v>
                </c:pt>
                <c:pt idx="8">
                  <c:v>22.3</c:v>
                </c:pt>
                <c:pt idx="9">
                  <c:v>30.9</c:v>
                </c:pt>
                <c:pt idx="10">
                  <c:v>46.9</c:v>
                </c:pt>
                <c:pt idx="11">
                  <c:v>60.1</c:v>
                </c:pt>
                <c:pt idx="12">
                  <c:v>70.9</c:v>
                </c:pt>
                <c:pt idx="13">
                  <c:v>73.1</c:v>
                </c:pt>
                <c:pt idx="14">
                  <c:v>77.2</c:v>
                </c:pt>
                <c:pt idx="15">
                  <c:v>73.7</c:v>
                </c:pt>
                <c:pt idx="16">
                  <c:v>75.3</c:v>
                </c:pt>
                <c:pt idx="17">
                  <c:v>74</c:v>
                </c:pt>
                <c:pt idx="18">
                  <c:v>59.5</c:v>
                </c:pt>
                <c:pt idx="19">
                  <c:v>50.5</c:v>
                </c:pt>
                <c:pt idx="20">
                  <c:v>37.2</c:v>
                </c:pt>
                <c:pt idx="21">
                  <c:v>28.4</c:v>
                </c:pt>
                <c:pt idx="22">
                  <c:v>22.4</c:v>
                </c:pt>
                <c:pt idx="23">
                  <c:v>15.4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Registered Users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43.3</c:v>
                </c:pt>
                <c:pt idx="1">
                  <c:v>25.8</c:v>
                </c:pt>
                <c:pt idx="2">
                  <c:v>18</c:v>
                </c:pt>
                <c:pt idx="3">
                  <c:v>8.8</c:v>
                </c:pt>
                <c:pt idx="4">
                  <c:v>5.1</c:v>
                </c:pt>
                <c:pt idx="5">
                  <c:v>18.8</c:v>
                </c:pt>
                <c:pt idx="6">
                  <c:v>72.4</c:v>
                </c:pt>
                <c:pt idx="7">
                  <c:v>196.5</c:v>
                </c:pt>
                <c:pt idx="8">
                  <c:v>346</c:v>
                </c:pt>
                <c:pt idx="9">
                  <c:v>187</c:v>
                </c:pt>
                <c:pt idx="10">
                  <c:v>126</c:v>
                </c:pt>
                <c:pt idx="11">
                  <c:v>149</c:v>
                </c:pt>
                <c:pt idx="12">
                  <c:v>188.4</c:v>
                </c:pt>
                <c:pt idx="13">
                  <c:v>182.6</c:v>
                </c:pt>
                <c:pt idx="14">
                  <c:v>167.8</c:v>
                </c:pt>
                <c:pt idx="15">
                  <c:v>177.1</c:v>
                </c:pt>
                <c:pt idx="16">
                  <c:v>239.8</c:v>
                </c:pt>
                <c:pt idx="17">
                  <c:v>380.3</c:v>
                </c:pt>
                <c:pt idx="18">
                  <c:v>359.1</c:v>
                </c:pt>
                <c:pt idx="19">
                  <c:v>263.6</c:v>
                </c:pt>
                <c:pt idx="20">
                  <c:v>190.1</c:v>
                </c:pt>
                <c:pt idx="21">
                  <c:v>146</c:v>
                </c:pt>
                <c:pt idx="22">
                  <c:v>109.4</c:v>
                </c:pt>
                <c:pt idx="23">
                  <c:v>72.9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49.2</c:v>
                </c:pt>
                <c:pt idx="1">
                  <c:v>71.4</c:v>
                </c:pt>
                <c:pt idx="2">
                  <c:v>52.3</c:v>
                </c:pt>
                <c:pt idx="3">
                  <c:v>11.7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144.1</c:v>
                </c:pt>
                <c:pt idx="1">
                  <c:v>196.8</c:v>
                </c:pt>
                <c:pt idx="2">
                  <c:v>191.5</c:v>
                </c:pt>
                <c:pt idx="3">
                  <c:v>88.4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Clear</c:v>
                  </c:pt>
                  <c:pt idx="1">
                    <c:v>Misty</c:v>
                  </c:pt>
                  <c:pt idx="2">
                    <c:v>Light Rain</c:v>
                  </c:pt>
                  <c:pt idx="3">
                    <c:v>Heavy Rain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40.8</c:v>
                </c:pt>
                <c:pt idx="1">
                  <c:v>28.1</c:v>
                </c:pt>
                <c:pt idx="2">
                  <c:v>14.5</c:v>
                </c:pt>
                <c:pt idx="3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Clear</c:v>
                  </c:pt>
                  <c:pt idx="1">
                    <c:v>Misty</c:v>
                  </c:pt>
                  <c:pt idx="2">
                    <c:v>Light Rain</c:v>
                  </c:pt>
                  <c:pt idx="3">
                    <c:v>Heavy Rain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163.2</c:v>
                </c:pt>
                <c:pt idx="1">
                  <c:v>138.6</c:v>
                </c:pt>
                <c:pt idx="2">
                  <c:v>96.3</c:v>
                </c:pt>
                <c:pt idx="3">
                  <c:v>65.1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90CA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</c:v>
                  </c:pt>
                  <c:pt idx="1">
                    <c:v>XGBoost</c:v>
                  </c:pt>
                  <c:pt idx="2">
                    <c:v>Random Forest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40.094</c:v>
                </c:pt>
                <c:pt idx="1">
                  <c:v>31.909</c:v>
                </c:pt>
                <c:pt idx="2">
                  <c:v>31.397</c:v>
                </c:pt>
                <c:pt idx="3">
                  <c:v>30.673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EF9A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120.538</c:v>
                </c:pt>
                <c:pt idx="1">
                  <c:v>77.746</c:v>
                </c:pt>
                <c:pt idx="2">
                  <c:v>74.516</c:v>
                </c:pt>
                <c:pt idx="3">
                  <c:v>72.318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holiday</c:v>
                  </c:pt>
                  <c:pt idx="1">
                    <c:v>year</c:v>
                  </c:pt>
                  <c:pt idx="2">
                    <c:v>weathersit</c:v>
                  </c:pt>
                  <c:pt idx="3">
                    <c:v>season</c:v>
                  </c:pt>
                  <c:pt idx="4">
                    <c:v>atemp</c:v>
                  </c:pt>
                  <c:pt idx="5">
                    <c:v>temp</c:v>
                  </c:pt>
                  <c:pt idx="6">
                    <c:v>hum</c:v>
                  </c:pt>
                  <c:pt idx="7">
                    <c:v>hr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130</c:v>
                </c:pt>
                <c:pt idx="2">
                  <c:v>175</c:v>
                </c:pt>
                <c:pt idx="3">
                  <c:v>235</c:v>
                </c:pt>
                <c:pt idx="4">
                  <c:v>290</c:v>
                </c:pt>
                <c:pt idx="5">
                  <c:v>445</c:v>
                </c:pt>
                <c:pt idx="6">
                  <c:v>550</c:v>
                </c:pt>
                <c:pt idx="7">
                  <c:v>790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holiday</c:v>
                  </c:pt>
                  <c:pt idx="1">
                    <c:v>year</c:v>
                  </c:pt>
                  <c:pt idx="2">
                    <c:v>weathersit</c:v>
                  </c:pt>
                  <c:pt idx="3">
                    <c:v>season</c:v>
                  </c:pt>
                  <c:pt idx="4">
                    <c:v>atemp</c:v>
                  </c:pt>
                  <c:pt idx="5">
                    <c:v>temp</c:v>
                  </c:pt>
                  <c:pt idx="6">
                    <c:v>hum</c:v>
                  </c:pt>
                  <c:pt idx="7">
                    <c:v>hr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150</c:v>
                </c:pt>
                <c:pt idx="2">
                  <c:v>195</c:v>
                </c:pt>
                <c:pt idx="3">
                  <c:v>250</c:v>
                </c:pt>
                <c:pt idx="4">
                  <c:v>345</c:v>
                </c:pt>
                <c:pt idx="5">
                  <c:v>550</c:v>
                </c:pt>
                <c:pt idx="6">
                  <c:v>600</c:v>
                </c:pt>
                <c:pt idx="7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D35"/>
        </a:solidFill>
        <a:ln>
          <a:noFill/>
        </a:ln>
        <a:effectLst/>
      </c:spPr>
    </c:plotArea>
    <c:plotVisOnly val="1"/>
    <c:dispBlanksAs val="span"/>
  </c:chart>
  <c:spPr>
    <a:solidFill>
      <a:srgbClr val="141D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D1A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111E3A"/>
          </a:solidFill>
          <a:ln w="6350">
            <a:solidFill>
              <a:srgbClr val="1A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663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663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663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4663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4663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502920"/>
            <a:ext cx="1645920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502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BikeShare Co.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0515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 Sharing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Prediction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Casual &amp; Registered User Demand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— LightGBM Regressor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520440"/>
            <a:ext cx="502920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BikeShare Co.  ·  Capstone Project Module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A35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REGRESSION  ·  DEMAND FORECASTING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4114800" cy="10058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99032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99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&amp;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context, stakeholders, goals, and metrics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4114800" cy="10058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94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78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816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attributes, and key statistics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483864"/>
            <a:ext cx="4114800" cy="10058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39896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39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986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patterns, seasonal trends, weather impact, correlations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399032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99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pipeline, train-test split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313432"/>
            <a:ext cx="4114800" cy="10058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569464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5694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478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 &amp; Tuning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2816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hyperparameter tuning, feature importance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83864"/>
            <a:ext cx="4114800" cy="10058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739896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739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Recommendation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986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impact, key findings,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BACKGROUND &amp;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4023360" cy="1371600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54864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BikeShare Co. operates an automated bike-sharing network where riders rent and return bikes at distributed stations. Without accurate demand forecasting, managing fleet balance across stations is largely manual and inefficient.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578608"/>
            <a:ext cx="4023360" cy="804672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78608"/>
            <a:ext cx="54864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426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852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Operations Team — responsible for bike redistribution, maintenance scheduling, and station management.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023360" cy="1371600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78992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43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3898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Oversupply: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bikes at quiet stations → high redistribution cost
</a:t>
            </a:r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Undersupply: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bikes at busy stations → customers leave disappointed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578608"/>
            <a:ext cx="4023360" cy="804672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578608"/>
            <a:ext cx="54864" cy="8046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426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2852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separate ML models to predict hourly demand for Casual users and Registered users.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502152"/>
            <a:ext cx="4023360" cy="1371600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502152"/>
            <a:ext cx="54864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APPROACH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Two separate supervised ML models (one per user type): EDA → Preprocessing → Model Comparison (4 models) → GridSearchCV Tuning → Feature Importance Analysis.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4023360" cy="1371600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502152"/>
            <a:ext cx="54864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EVALUATION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</a:t>
            </a:r>
            <a:pPr indent="0" marL="0">
              <a:buNone/>
            </a:pPr>
            <a:r>
              <a:rPr lang="en-US" sz="10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 — penalizes large errors heavily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</a:t>
            </a:r>
            <a:pPr indent="0" marL="0">
              <a:buNone/>
            </a:pPr>
            <a:r>
              <a:rPr lang="en-US" sz="10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avg error per hour, easy to interpret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</a:t>
            </a:r>
            <a:pPr indent="0" marL="0">
              <a:buNone/>
            </a:pPr>
            <a:r>
              <a:rPr lang="en-US" sz="10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variance explained; target → 1.0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UNDERSTANDING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12,165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078992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1078992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0848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INFORMATION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77440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60350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dteday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(1=Winter, 2=Spring, 3=Summer, 4=Fall)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of day (0–23)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holiday flag (0/1)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temperature in Celsius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'feels like' temperature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humidity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condition (1=Clear → 4=Heavy Rain)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 user count — TARGET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user count — TARGET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B8D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8D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B8D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rentals = casual + registered (EXCLUDED)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Hours Low Demand — But Peaks Spike Hard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023360" cy="1627632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16276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35.8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0876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2316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2316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2157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Right-skewed: most hours quiet, rare peaks very high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023360" cy="1627632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97280"/>
            <a:ext cx="54864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61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153.4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4632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6072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115.0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6072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7512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89520" y="14173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589520" y="188366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157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skewed — more consistent baseline demand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2852928"/>
            <a:ext cx="8321040" cy="1097280"/>
          </a:xfrm>
          <a:prstGeom prst="rect">
            <a:avLst/>
          </a:prstGeom>
          <a:solidFill>
            <a:srgbClr val="0D20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852928"/>
            <a:ext cx="54864" cy="10972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9077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315468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average 4× more rentals per hour than casual users </a:t>
            </a:r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(153.4 vs 35.8)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have a higher maximum demand </a:t>
            </a:r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(876 vs 362)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Both distributions are right-skewed, confirming that standard demand is low but extreme peaks create significant operational pressure.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Completely Different Usage Patterns by Hour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05156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05156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4005072"/>
            <a:ext cx="4114800" cy="868680"/>
          </a:xfrm>
          <a:prstGeom prst="rect">
            <a:avLst/>
          </a:prstGeom>
          <a:solidFill>
            <a:srgbClr val="0A1E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11480" y="4005072"/>
            <a:ext cx="54864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599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🚴 RECREATIONAL PATTERN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94360" y="4279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12:00–15:00 (midday leisure). Demand rises gradually from morning, suggesting weather-dependent, unplanned trips.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4005072"/>
            <a:ext cx="4114800" cy="868680"/>
          </a:xfrm>
          <a:prstGeom prst="rect">
            <a:avLst/>
          </a:prstGeom>
          <a:solidFill>
            <a:srgbClr val="1A150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4005072"/>
            <a:ext cx="54864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40599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COMMUTER PATTERN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846320" y="4279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twin peaks at 08:00 and 17:00–18:00 (rush hours). Highly predictable daily pattern — ideal for ML forecasting.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&amp; Season Drive Demand — Especially for Casual Users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078992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078992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3749040"/>
            <a:ext cx="1920240" cy="11430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794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+0.37 / +0.30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(strongest predictor for both)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560320" y="3749040"/>
            <a:ext cx="1920240" cy="11430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51760" y="3794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atemp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176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+0.46 / +0.33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51760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weather = more rentals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709160" y="3749040"/>
            <a:ext cx="1920240" cy="11430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00600" y="3794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006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−0.35 / −0.27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00600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humidity = fewer rentals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858000" y="3749040"/>
            <a:ext cx="1920240" cy="11430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794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weathersit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4944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−0.15 / −0.12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949440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weather reduces demand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11480" y="365760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(casual / registered)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PREPROCESSING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Raw Data to Model-Ready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43000"/>
            <a:ext cx="15087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1508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261872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1783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0428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dteday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(2011→0, 2012→1)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92808" y="2194560"/>
            <a:ext cx="201168" cy="54864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1143000"/>
            <a:ext cx="15087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1143000"/>
            <a:ext cx="15087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261872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85416" y="1783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Columns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85416" y="230428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dteday,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(leakage),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helpers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02736" y="2194560"/>
            <a:ext cx="201168" cy="54864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1143000"/>
            <a:ext cx="15087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3904" y="1143000"/>
            <a:ext cx="1508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1261872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95344" y="1783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95344" y="230428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8 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y1: casual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y2: registered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12664" y="2194560"/>
            <a:ext cx="201168" cy="54864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3832" y="1143000"/>
            <a:ext cx="15087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3832" y="1143000"/>
            <a:ext cx="1508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5896" y="1261872"/>
            <a:ext cx="475488" cy="47548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05272" y="1783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Train-Test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05272" y="230428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22592" y="2194560"/>
            <a:ext cx="201168" cy="54864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143000"/>
            <a:ext cx="1508760" cy="23774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1143000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35824" y="12618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0" y="1783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230428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temp, atemp,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 | passthrough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657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SET (8 features)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3950208"/>
            <a:ext cx="4069080" cy="237744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9502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874520" y="39502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206240"/>
            <a:ext cx="4069080" cy="237744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874520" y="4206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4462272"/>
            <a:ext cx="4069080" cy="237744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622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874520" y="44622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718304"/>
            <a:ext cx="4069080" cy="237744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7183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874520" y="47183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3950208"/>
            <a:ext cx="4069080" cy="237744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9502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80760" y="39502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17720" y="4206240"/>
            <a:ext cx="4069080" cy="237744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80760" y="4206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4462272"/>
            <a:ext cx="4069080" cy="237744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44622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weathersit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080760" y="44622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17720" y="4718304"/>
            <a:ext cx="4069080" cy="237744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47183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080760" y="47183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 Wins Across Both Targets (5-Fold CV)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05156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05156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333756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SUMMARY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6616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188720"/>
                <a:gridCol w="164592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 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 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A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 — FINAL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LightGBM: How It Works &amp; Best Hyperparameters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4023360" cy="2834640"/>
          </a:xfrm>
          <a:prstGeom prst="rect">
            <a:avLst/>
          </a:prstGeom>
          <a:solidFill>
            <a:srgbClr val="141D35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78992"/>
            <a:ext cx="54864" cy="2834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43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LIGHTGBM WORKS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4447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ensemble of decision trees sequentially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19019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errors of the previous one (gradient boosting)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3317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3591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leaf-wise growth → finds best leaf to split, not level-wise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7889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28163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Histogram-based splits make it fast on large datasets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2735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weighted sum of all trees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78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 (GridSearchCV · 54 combos × 5 folds)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(no limit)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D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29260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AFTER TUNING (TEST SET)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63440" y="3200400"/>
            <a:ext cx="1920240" cy="6858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32552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31.03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663440" y="3621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RMSE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84264" y="3200400"/>
            <a:ext cx="1920240" cy="6858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84264" y="32552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0.607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684264" y="3621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R²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63440" y="3977640"/>
            <a:ext cx="1920240" cy="6858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3440" y="40325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71.79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RMSE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684264" y="3977640"/>
            <a:ext cx="1920240" cy="68580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84264" y="40325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0.758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684264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R²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4041648"/>
            <a:ext cx="4023360" cy="804672"/>
          </a:xfrm>
          <a:prstGeom prst="rect">
            <a:avLst/>
          </a:prstGeom>
          <a:solidFill>
            <a:srgbClr val="0D122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41648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4360" y="4096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94360" y="4279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0.61 (casual) suggests ~39% variance unexplained — likely due to missing features: weekday/weekend flag, station location, and special events.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 — FEATURE IMPORTANCE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 of Day Dominates Both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05156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17720" y="105156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4005072"/>
            <a:ext cx="26060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1208" y="4059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21208" y="4315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for both. Registered shows sharper peak due to commuting patterns.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27832" y="4005072"/>
            <a:ext cx="26060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37560" y="4059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 &amp; temp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4315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features rank 2nd &amp; 3rd — casual users far more sensitive to comfort.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44184" y="4005072"/>
            <a:ext cx="26060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53912" y="4059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holiday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153912" y="4315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predictor — holidays have minimal impact on overall hourly demand.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BUSINESS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Cuts Redistribution Waste by ~20%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3931920" cy="28346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39319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estimation based on historical averages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Oversupply at quiet stations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Undersupply at busy stations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Reactive redistribution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1455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High ops cost from wasted trips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3931920" cy="283464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78992"/>
            <a:ext cx="393192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ML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hourly demand forecast per user segment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1938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 casual demand (MAE ≈ 17 bikes/hr)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 registered demand (MAE ≈ 47 bikes/hr)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Proactive bike redistribution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1455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Reduced wasted redistribution trips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87952" y="2103120"/>
            <a:ext cx="594360" cy="5943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041648"/>
            <a:ext cx="8321040" cy="868680"/>
          </a:xfrm>
          <a:prstGeom prst="rect">
            <a:avLst/>
          </a:prstGeom>
          <a:solidFill>
            <a:srgbClr val="071A0F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041648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96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SAVINGS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3159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redistribution cost = Rp 50,000/bike/day and the model reduces unnecessary redistribution by 20%,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fleet of 1,000 bikes: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10,000,000 saved/day  ·  ~Rp 3.6 Billion/year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4023360" cy="173736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54864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13258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 is the Best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outperforms Linear Regression, Random Forest, and XGBoost on both targets. Post-tuning: Casual RMSE = 31.03 (R² = 0.607) · Registered RMSE = 71.79 (R² = 0.758).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023360" cy="173736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43000"/>
            <a:ext cx="54864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32588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13258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Registered Users Are More Predictable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R² (0.758 vs 0.607) reflects commuters' consistent patterns. Casual users are more situational and weather-sensitive, making them harder to forecast.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54680"/>
            <a:ext cx="4023360" cy="173736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154680"/>
            <a:ext cx="54864" cy="17373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3337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 (hr) is the Most Powerful Feature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dominates feature importance for both models. Temperature drives casual demand; year trend drives registered demand growth from 2011→2012.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4023360" cy="173736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154680"/>
            <a:ext cx="54864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33756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337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Separate Models Add Real Business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7947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casual and registered separately enables targeted fleet management — rebalance for commuters at 08:00 &amp; 17:00; for leisure riders at 12:00–15:00.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RECOMMENDATION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4023360" cy="1115568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54864" cy="11155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70432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" y="1170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Weekday / Weekend Feature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5361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 behave very differently on workdays vs weekends. This single feature could significantly improve casual model R².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40864"/>
            <a:ext cx="4023360" cy="1115568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40864"/>
            <a:ext cx="54864" cy="11155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24323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Incorporate Station Location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798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features (proximity to CBD, transport hubs, population density) would enable per-station demand prediction — more actionable for ops.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602736"/>
            <a:ext cx="4023360" cy="1115568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02736"/>
            <a:ext cx="54864" cy="11155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94176"/>
            <a:ext cx="365760" cy="36576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 Time Series Approaches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599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SARIMA, Prophet, or LSTM could better capture sequential demand patterns. Consider as a complementary layer on top of ML predictions.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4023360" cy="1115568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078992"/>
            <a:ext cx="54864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170432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85232" y="1170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Deep-Dive Residual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5361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hours where the model consistently over/under-predicts — extreme peaks and quiet nights. Refine or override the model for these edge cases.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340864"/>
            <a:ext cx="4023360" cy="1115568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340864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43230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24323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as REST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798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both models with FastAPI + Docker. Integrate into fleet management dashboard for real-time hourly demand forecasts by station zone.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11E3A"/>
          </a:solidFill>
          <a:ln w="6350">
            <a:solidFill>
              <a:srgbClr val="1A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1A35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🚲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5029200" cy="27432"/>
          </a:xfrm>
          <a:prstGeom prst="rect">
            <a:avLst/>
          </a:prstGeom>
          <a:solidFill>
            <a:srgbClr val="253354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930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BikeShare Co.  ·  Capstone Project Module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977640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0.758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4443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Model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3977640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0.607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4443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3977640"/>
            <a:ext cx="1920240" cy="868680"/>
          </a:xfrm>
          <a:prstGeom prst="rect">
            <a:avLst/>
          </a:prstGeom>
          <a:solidFill>
            <a:srgbClr val="1A2540"/>
          </a:solidFill>
          <a:ln w="6350">
            <a:solidFill>
              <a:srgbClr val="253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4443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A35"/>
          </a:solidFill>
          <a:ln w="12700">
            <a:solidFill>
              <a:srgbClr val="25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REGRESSION  ·  DEMAND FORECASTING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Prediction</dc:title>
  <dc:subject>PptxGenJS Presentation</dc:subject>
  <dc:creator>PptxGenJS</dc:creator>
  <cp:lastModifiedBy>PptxGenJS</cp:lastModifiedBy>
  <cp:revision>1</cp:revision>
  <dcterms:created xsi:type="dcterms:W3CDTF">2026-05-09T02:45:07Z</dcterms:created>
  <dcterms:modified xsi:type="dcterms:W3CDTF">2026-05-09T02:45:07Z</dcterms:modified>
</cp:coreProperties>
</file>