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10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Casual Users</c:v>
                </c:pt>
              </c:strCache>
            </c:strRef>
          </c:tx>
          <c:spPr>
            <a:solidFill>
              <a:srgbClr val="0EA5E9"/>
            </a:solidFill>
            <a:effectLst/>
          </c:spPr>
          <c:invertIfNegative val="0"/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9.8000000000000007</c:v>
                </c:pt>
                <c:pt idx="1">
                  <c:v>6.3</c:v>
                </c:pt>
                <c:pt idx="2">
                  <c:v>4.7</c:v>
                </c:pt>
                <c:pt idx="3">
                  <c:v>2.5</c:v>
                </c:pt>
                <c:pt idx="4">
                  <c:v>1.2</c:v>
                </c:pt>
                <c:pt idx="5">
                  <c:v>1.4</c:v>
                </c:pt>
                <c:pt idx="6">
                  <c:v>4.3</c:v>
                </c:pt>
                <c:pt idx="7">
                  <c:v>11.1</c:v>
                </c:pt>
                <c:pt idx="8">
                  <c:v>22.3</c:v>
                </c:pt>
                <c:pt idx="9">
                  <c:v>30.9</c:v>
                </c:pt>
                <c:pt idx="10">
                  <c:v>46.9</c:v>
                </c:pt>
                <c:pt idx="11">
                  <c:v>60.1</c:v>
                </c:pt>
                <c:pt idx="12">
                  <c:v>70.900000000000006</c:v>
                </c:pt>
                <c:pt idx="13">
                  <c:v>73.099999999999994</c:v>
                </c:pt>
                <c:pt idx="14">
                  <c:v>77.2</c:v>
                </c:pt>
                <c:pt idx="15">
                  <c:v>73.7</c:v>
                </c:pt>
                <c:pt idx="16">
                  <c:v>75.3</c:v>
                </c:pt>
                <c:pt idx="17">
                  <c:v>74</c:v>
                </c:pt>
                <c:pt idx="18">
                  <c:v>59.5</c:v>
                </c:pt>
                <c:pt idx="19">
                  <c:v>50.5</c:v>
                </c:pt>
                <c:pt idx="20">
                  <c:v>37.200000000000003</c:v>
                </c:pt>
                <c:pt idx="21">
                  <c:v>28.4</c:v>
                </c:pt>
                <c:pt idx="22">
                  <c:v>22.4</c:v>
                </c:pt>
                <c:pt idx="23">
                  <c:v>15.4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6B-4894-89EE-F82409AA74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5335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D3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41D3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Registered Users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43.3</c:v>
                </c:pt>
                <c:pt idx="1">
                  <c:v>25.8</c:v>
                </c:pt>
                <c:pt idx="2">
                  <c:v>18</c:v>
                </c:pt>
                <c:pt idx="3">
                  <c:v>8.8000000000000007</c:v>
                </c:pt>
                <c:pt idx="4">
                  <c:v>5.0999999999999996</c:v>
                </c:pt>
                <c:pt idx="5">
                  <c:v>18.8</c:v>
                </c:pt>
                <c:pt idx="6">
                  <c:v>72.400000000000006</c:v>
                </c:pt>
                <c:pt idx="7">
                  <c:v>196.5</c:v>
                </c:pt>
                <c:pt idx="8">
                  <c:v>346</c:v>
                </c:pt>
                <c:pt idx="9">
                  <c:v>187</c:v>
                </c:pt>
                <c:pt idx="10">
                  <c:v>126</c:v>
                </c:pt>
                <c:pt idx="11">
                  <c:v>149</c:v>
                </c:pt>
                <c:pt idx="12">
                  <c:v>188.4</c:v>
                </c:pt>
                <c:pt idx="13">
                  <c:v>182.6</c:v>
                </c:pt>
                <c:pt idx="14">
                  <c:v>167.8</c:v>
                </c:pt>
                <c:pt idx="15">
                  <c:v>177.1</c:v>
                </c:pt>
                <c:pt idx="16">
                  <c:v>239.8</c:v>
                </c:pt>
                <c:pt idx="17">
                  <c:v>380.3</c:v>
                </c:pt>
                <c:pt idx="18">
                  <c:v>359.1</c:v>
                </c:pt>
                <c:pt idx="19">
                  <c:v>263.60000000000002</c:v>
                </c:pt>
                <c:pt idx="20">
                  <c:v>190.1</c:v>
                </c:pt>
                <c:pt idx="21">
                  <c:v>146</c:v>
                </c:pt>
                <c:pt idx="22">
                  <c:v>109.4</c:v>
                </c:pt>
                <c:pt idx="23">
                  <c:v>72.900000000000006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8FB-486B-B5B3-C398CA46E8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5335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D3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41D35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Casual</c:v>
                </c:pt>
              </c:strCache>
            </c:strRef>
          </c:tx>
          <c:spPr>
            <a:solidFill>
              <a:srgbClr val="0EA5E9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Spring</c:v>
                </c:pt>
                <c:pt idx="1">
                  <c:v>Summer</c:v>
                </c:pt>
                <c:pt idx="2">
                  <c:v>Fall</c:v>
                </c:pt>
                <c:pt idx="3">
                  <c:v>Winter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49.2</c:v>
                </c:pt>
                <c:pt idx="1">
                  <c:v>71.400000000000006</c:v>
                </c:pt>
                <c:pt idx="2">
                  <c:v>52.3</c:v>
                </c:pt>
                <c:pt idx="3">
                  <c:v>11.7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E56-432E-9334-F0DE019748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Registered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Spring</c:v>
                </c:pt>
                <c:pt idx="1">
                  <c:v>Summer</c:v>
                </c:pt>
                <c:pt idx="2">
                  <c:v>Fall</c:v>
                </c:pt>
                <c:pt idx="3">
                  <c:v>Winter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144.1</c:v>
                </c:pt>
                <c:pt idx="1">
                  <c:v>196.8</c:v>
                </c:pt>
                <c:pt idx="2">
                  <c:v>191.5</c:v>
                </c:pt>
                <c:pt idx="3">
                  <c:v>88.4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E56-432E-9334-F0DE019748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5335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D3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41D35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Casual</c:v>
                </c:pt>
              </c:strCache>
            </c:strRef>
          </c:tx>
          <c:spPr>
            <a:solidFill>
              <a:srgbClr val="0EA5E9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Clear</c:v>
                </c:pt>
                <c:pt idx="1">
                  <c:v>Misty</c:v>
                </c:pt>
                <c:pt idx="2">
                  <c:v>Light Rain</c:v>
                </c:pt>
                <c:pt idx="3">
                  <c:v>Heavy Rain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40.799999999999997</c:v>
                </c:pt>
                <c:pt idx="1">
                  <c:v>28.1</c:v>
                </c:pt>
                <c:pt idx="2">
                  <c:v>14.5</c:v>
                </c:pt>
                <c:pt idx="3">
                  <c:v>2.2000000000000002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7D-4AF4-BAC8-BF3DFDE2F6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Registered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Clear</c:v>
                </c:pt>
                <c:pt idx="1">
                  <c:v>Misty</c:v>
                </c:pt>
                <c:pt idx="2">
                  <c:v>Light Rain</c:v>
                </c:pt>
                <c:pt idx="3">
                  <c:v>Heavy Rain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163.19999999999999</c:v>
                </c:pt>
                <c:pt idx="1">
                  <c:v>138.6</c:v>
                </c:pt>
                <c:pt idx="2">
                  <c:v>96.3</c:v>
                </c:pt>
                <c:pt idx="3">
                  <c:v>65.099999999999994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97D-4AF4-BAC8-BF3DFDE2F6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5335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D3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41D35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RMSE</c:v>
                </c:pt>
              </c:strCache>
            </c:strRef>
          </c:tx>
          <c:spPr>
            <a:solidFill>
              <a:srgbClr val="90CAF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C3F-4404-A2FC-01523499CAA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0C3F-4404-A2FC-01523499CAA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0C3F-4404-A2FC-01523499CAA1}"/>
              </c:ext>
            </c:extLst>
          </c:dPt>
          <c:dPt>
            <c:idx val="3"/>
            <c:invertIfNegative val="0"/>
            <c:bubble3D val="0"/>
            <c:spPr>
              <a:solidFill>
                <a:srgbClr val="0EA5E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C3F-4404-A2FC-01523499CAA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Linear Reg</c:v>
                </c:pt>
                <c:pt idx="1">
                  <c:v>XGBoost</c:v>
                </c:pt>
                <c:pt idx="2">
                  <c:v>Random Forest</c:v>
                </c:pt>
                <c:pt idx="3">
                  <c:v>LightGBM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40.094000000000001</c:v>
                </c:pt>
                <c:pt idx="1">
                  <c:v>31.908999999999999</c:v>
                </c:pt>
                <c:pt idx="2">
                  <c:v>31.396999999999998</c:v>
                </c:pt>
                <c:pt idx="3">
                  <c:v>30.672999999999998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C3F-4404-A2FC-01523499CAA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5335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D35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41D35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RMSE</c:v>
                </c:pt>
              </c:strCache>
            </c:strRef>
          </c:tx>
          <c:spPr>
            <a:solidFill>
              <a:srgbClr val="EF9A9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CA7-4B9F-A224-41360C84481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CA7-4B9F-A224-41360C84481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7CA7-4B9F-A224-41360C844819}"/>
              </c:ext>
            </c:extLst>
          </c:dPt>
          <c:dPt>
            <c:idx val="3"/>
            <c:invertIfNegative val="0"/>
            <c:bubble3D val="0"/>
            <c:spPr>
              <a:solidFill>
                <a:srgbClr val="F9731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CA7-4B9F-A224-41360C84481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Linear Reg</c:v>
                </c:pt>
                <c:pt idx="1">
                  <c:v>Random Forest</c:v>
                </c:pt>
                <c:pt idx="2">
                  <c:v>XGBoost</c:v>
                </c:pt>
                <c:pt idx="3">
                  <c:v>LightGBM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120.538</c:v>
                </c:pt>
                <c:pt idx="1">
                  <c:v>77.745999999999995</c:v>
                </c:pt>
                <c:pt idx="2">
                  <c:v>74.516000000000005</c:v>
                </c:pt>
                <c:pt idx="3">
                  <c:v>72.317999999999998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CA7-4B9F-A224-41360C8448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5335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D35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41D35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0EA5E9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holiday</c:v>
                </c:pt>
                <c:pt idx="1">
                  <c:v>year</c:v>
                </c:pt>
                <c:pt idx="2">
                  <c:v>weathersit</c:v>
                </c:pt>
                <c:pt idx="3">
                  <c:v>season</c:v>
                </c:pt>
                <c:pt idx="4">
                  <c:v>atemp</c:v>
                </c:pt>
                <c:pt idx="5">
                  <c:v>temp</c:v>
                </c:pt>
                <c:pt idx="6">
                  <c:v>hum</c:v>
                </c:pt>
                <c:pt idx="7">
                  <c:v>hr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130</c:v>
                </c:pt>
                <c:pt idx="2">
                  <c:v>175</c:v>
                </c:pt>
                <c:pt idx="3">
                  <c:v>235</c:v>
                </c:pt>
                <c:pt idx="4">
                  <c:v>290</c:v>
                </c:pt>
                <c:pt idx="5">
                  <c:v>445</c:v>
                </c:pt>
                <c:pt idx="6">
                  <c:v>550</c:v>
                </c:pt>
                <c:pt idx="7">
                  <c:v>790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795-4EFB-B3BC-13354E500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5335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D35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41D35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holiday</c:v>
                </c:pt>
                <c:pt idx="1">
                  <c:v>year</c:v>
                </c:pt>
                <c:pt idx="2">
                  <c:v>weathersit</c:v>
                </c:pt>
                <c:pt idx="3">
                  <c:v>season</c:v>
                </c:pt>
                <c:pt idx="4">
                  <c:v>atemp</c:v>
                </c:pt>
                <c:pt idx="5">
                  <c:v>temp</c:v>
                </c:pt>
                <c:pt idx="6">
                  <c:v>hum</c:v>
                </c:pt>
                <c:pt idx="7">
                  <c:v>hr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</c:v>
                </c:pt>
                <c:pt idx="1">
                  <c:v>150</c:v>
                </c:pt>
                <c:pt idx="2">
                  <c:v>195</c:v>
                </c:pt>
                <c:pt idx="3">
                  <c:v>250</c:v>
                </c:pt>
                <c:pt idx="4">
                  <c:v>345</c:v>
                </c:pt>
                <c:pt idx="5">
                  <c:v>550</c:v>
                </c:pt>
                <c:pt idx="6">
                  <c:v>600</c:v>
                </c:pt>
                <c:pt idx="7">
                  <c:v>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3C-47C6-9F3F-03123F00A3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5335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B8DB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D35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41D3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9644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D1A35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-914400"/>
            <a:ext cx="2926080" cy="2926080"/>
          </a:xfrm>
          <a:prstGeom prst="ellipse">
            <a:avLst/>
          </a:prstGeom>
          <a:solidFill>
            <a:srgbClr val="111E3A"/>
          </a:solidFill>
          <a:ln w="6350">
            <a:solidFill>
              <a:srgbClr val="1A30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663440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4663440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4663440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17320" y="4663440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37360" y="4663440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4663440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502920"/>
            <a:ext cx="1645920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5029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BikeShare Co.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10515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Bike Sharing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411480" y="173736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Demand Prediction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411480" y="269748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Casual &amp; Registered User Demand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— LightGBM Regressor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" y="3520440"/>
            <a:ext cx="502920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703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Fahrizal Safalah ·  BikeShare Co.  ·  Capstone Project Module 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A35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 ·  REGRESSION  ·  DEMAND FORECASTING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FLOW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438912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Outline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43000"/>
            <a:ext cx="4114800" cy="10058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399032"/>
            <a:ext cx="475488" cy="475488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3990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13075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Background &amp; Problem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context, stakeholders, goals, and metrics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2313432"/>
            <a:ext cx="4114800" cy="10058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569464"/>
            <a:ext cx="475488" cy="475488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5694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247802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Understanding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28163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overview, attributes, and key statistics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483864"/>
            <a:ext cx="4114800" cy="10058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739896"/>
            <a:ext cx="475488" cy="475488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73989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3000" y="364845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Exploratory Data Analysis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398678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patterns, seasonal trends, weather impact, correlations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1143000"/>
            <a:ext cx="4114800" cy="10058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92040" y="1399032"/>
            <a:ext cx="475488" cy="475488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13990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0" y="13075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Preprocessing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0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 pipeline, train-test split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2313432"/>
            <a:ext cx="4114800" cy="10058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92040" y="2569464"/>
            <a:ext cx="475488" cy="475488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25694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0" y="247802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Modeling &amp; Tuning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0" y="28163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comparison, hyperparameter tuning, feature importance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483864"/>
            <a:ext cx="4114800" cy="10058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92040" y="3739896"/>
            <a:ext cx="475488" cy="475488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373989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0" y="364845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 &amp; Recommendation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0" y="398678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impact, key findings, and next steps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BACKGROUND &amp; 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78992"/>
            <a:ext cx="4023360" cy="1371600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78992"/>
            <a:ext cx="54864" cy="13716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430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4360" y="1389888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BikeShare Co. operates an automated bike-sharing network where riders rent and return bikes at distributed stations. Without accurate demand forecasting, managing fleet balance across stations is largely manual and inefficient.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1480" y="2578608"/>
            <a:ext cx="4023360" cy="804672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578608"/>
            <a:ext cx="54864" cy="80467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64261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852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Operations Team — responsible for bike redistribution, maintenance scheduling, and station management.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1078992"/>
            <a:ext cx="4023360" cy="1371600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078992"/>
            <a:ext cx="54864" cy="13716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1430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0" y="1389888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Oversupply: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bikes at quiet stations → high redistribution cost
</a:t>
            </a:r>
            <a:r>
              <a:rPr lang="en-US" sz="10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Undersupply: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few bikes at busy stations → customers leave disappointed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2578608"/>
            <a:ext cx="4023360" cy="804672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578608"/>
            <a:ext cx="54864" cy="804672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642616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846320" y="2852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separate ML models to predict hourly demand for Casual users and Registered users.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1480" y="3502152"/>
            <a:ext cx="4023360" cy="1371600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1480" y="3502152"/>
            <a:ext cx="54864" cy="13716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56616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APPROACH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" y="37947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— Two separate supervised ML models (one per user type): EDA → Preprocessing → Model Comparison (4 models) → GridSearchCV Tuning → Feature Importance Analysis.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63440" y="3502152"/>
            <a:ext cx="4023360" cy="1371600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3502152"/>
            <a:ext cx="54864" cy="13716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5661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EVALUATION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46320" y="37947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</a:t>
            </a:r>
            <a:r>
              <a:rPr lang="en-US" sz="10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(primary) — penalizes large errors heavily
</a:t>
            </a: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</a:t>
            </a:r>
            <a:r>
              <a:rPr lang="en-US" sz="10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avg error per hour, easy to interpret
</a:t>
            </a: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</a:t>
            </a:r>
            <a:r>
              <a:rPr lang="en-US" sz="10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variance explained; target → 1.0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DATA UNDERSTANDING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78992"/>
            <a:ext cx="1920240" cy="86868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1430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12,165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15819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1078992"/>
            <a:ext cx="1920240" cy="86868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1430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560320" y="15819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9160" y="1078992"/>
            <a:ext cx="1920240" cy="86868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1430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E5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5819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0" y="1078992"/>
            <a:ext cx="1920240" cy="86868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11430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58000" y="15819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11480" y="20848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INFORMATION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77440"/>
          <a:ext cx="832104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A0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0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A0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D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dteday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Recording date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 (1=Winter, 2=Spring, 3=Summer, 4=Fall)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 of day (0–23)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holiday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 holiday flag (0/1)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Normalized temperature in Celsius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Normalized 'feels like' temperature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Normalized humidity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weathersit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condition (1=Clear → 4=Heavy Rain)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00E5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casual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D2A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E5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D2A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00E5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Casual user count — TARGET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D2A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00E5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D2A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E5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D2A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00E5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user count — TARGET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D2A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B8D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7B8D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7B8D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rentals = casual + registered (EXCLUDED)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EXPLORATORY DATA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393192"/>
            <a:ext cx="8321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Most Hours Low Demand — But Peaks Spike Hard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97280"/>
            <a:ext cx="4023360" cy="1627632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97280"/>
            <a:ext cx="54864" cy="162763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6128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CASUAL USERS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4360" y="1417320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35.8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" y="188366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508760" y="1417320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17.0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188366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423160" y="1417320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423160" y="188366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337560" y="1417320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2.48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337560" y="188366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94360" y="215798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Right-skewed: most hours quiet, rare peaks very high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1097280"/>
            <a:ext cx="4023360" cy="1627632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1097280"/>
            <a:ext cx="54864" cy="162763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16128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846320" y="1417320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153.4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846320" y="188366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760720" y="1417320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115.0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760720" y="188366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675120" y="1417320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876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675120" y="188366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589520" y="1417320"/>
            <a:ext cx="868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1.55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589520" y="188366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846320" y="215798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skewed — more consistent baseline demand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1480" y="2852928"/>
            <a:ext cx="8321040" cy="1097280"/>
          </a:xfrm>
          <a:prstGeom prst="rect">
            <a:avLst/>
          </a:prstGeom>
          <a:solidFill>
            <a:srgbClr val="0D20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2852928"/>
            <a:ext cx="54864" cy="109728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2907792"/>
            <a:ext cx="7955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0080" y="3154680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 average 4× more rentals per hour than casual users </a:t>
            </a:r>
            <a:r>
              <a:rPr lang="en-US" sz="10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(153.4 vs 35.8)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have a higher maximum demand </a:t>
            </a:r>
            <a:r>
              <a:rPr lang="en-US" sz="10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(876 vs 362)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Both distributions are right-skewed, confirming that standard demand is low but extreme peaks create significant operational pressure.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EXPLORATORY DATA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393192"/>
            <a:ext cx="8321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Completely Different Usage Patterns by Hour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graphicFrame>
        <p:nvGraphicFramePr>
          <p:cNvPr id="6" name="Chart 0"/>
          <p:cNvGraphicFramePr/>
          <p:nvPr/>
        </p:nvGraphicFramePr>
        <p:xfrm>
          <a:off x="411480" y="1051560"/>
          <a:ext cx="411480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663440" y="1051560"/>
          <a:ext cx="411480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411480" y="4005072"/>
            <a:ext cx="4114800" cy="868680"/>
          </a:xfrm>
          <a:prstGeom prst="rect">
            <a:avLst/>
          </a:prstGeom>
          <a:solidFill>
            <a:srgbClr val="0A1E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11480" y="4005072"/>
            <a:ext cx="54864" cy="8686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94360" y="405993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🚴 RECREATIONAL PATTERN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594360" y="4279392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at 12:00–15:00 (midday leisure). Demand rises gradually from morning, suggesting weather-dependent, unplanned trips.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663440" y="4005072"/>
            <a:ext cx="4114800" cy="868680"/>
          </a:xfrm>
          <a:prstGeom prst="rect">
            <a:avLst/>
          </a:prstGeom>
          <a:solidFill>
            <a:srgbClr val="1A150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663440" y="4005072"/>
            <a:ext cx="54864" cy="8686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46320" y="405993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COMMUTER PATTERN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4846320" y="4279392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twin peaks at 08:00 and 17:00–18:00 (rush hours). Highly predictable daily pattern — ideal for ML forecasting.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EXPLORATORY DATA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393192"/>
            <a:ext cx="8321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Weather &amp; Season Drive Demand — Especially for Casual Users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graphicFrame>
        <p:nvGraphicFramePr>
          <p:cNvPr id="6" name="Chart 0"/>
          <p:cNvGraphicFramePr/>
          <p:nvPr/>
        </p:nvGraphicFramePr>
        <p:xfrm>
          <a:off x="411480" y="1078992"/>
          <a:ext cx="41148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663440" y="1078992"/>
          <a:ext cx="41148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411480" y="3749040"/>
            <a:ext cx="1920240" cy="114300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920" y="379476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02920" y="40690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+0.37 / +0.30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 (strongest predictor for both)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2560320" y="3749040"/>
            <a:ext cx="1920240" cy="114300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651760" y="379476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 / atemp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2651760" y="40690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+0.46 / +0.33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2651760" y="43434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Warmer weather = more rentals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709160" y="3749040"/>
            <a:ext cx="1920240" cy="114300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800600" y="379476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800600" y="40690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−0.35 / −0.27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800600" y="43434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humidity = fewer rentals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6858000" y="3749040"/>
            <a:ext cx="1920240" cy="114300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949440" y="379476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weathersit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949440" y="40690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−0.15 / −0.12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949440" y="43434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weather reduces demand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411480" y="3657600"/>
            <a:ext cx="8321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Correlations (casual / registered)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DATA PREPROCESSING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Raw Data to Model-Ready Features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1143000"/>
            <a:ext cx="1508760" cy="23774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43000"/>
            <a:ext cx="150876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1261872"/>
            <a:ext cx="475488" cy="475488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12618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" y="17830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Feature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2304288"/>
            <a:ext cx="1325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year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dteday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(2011→0, 2012→1)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892808" y="2194560"/>
            <a:ext cx="201168" cy="54864"/>
          </a:xfrm>
          <a:prstGeom prst="rect">
            <a:avLst/>
          </a:prstGeom>
          <a:solidFill>
            <a:srgbClr val="7B8DB0"/>
          </a:solidFill>
          <a:ln w="12700">
            <a:solidFill>
              <a:srgbClr val="7B8DB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3976" y="1143000"/>
            <a:ext cx="1508760" cy="23774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93976" y="1143000"/>
            <a:ext cx="150876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06040" y="1261872"/>
            <a:ext cx="475488" cy="475488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06040" y="12618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85416" y="17830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Drop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Columns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85416" y="2304288"/>
            <a:ext cx="1325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dteday,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cnt (leakage),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helpers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02736" y="2194560"/>
            <a:ext cx="201168" cy="54864"/>
          </a:xfrm>
          <a:prstGeom prst="rect">
            <a:avLst/>
          </a:prstGeom>
          <a:solidFill>
            <a:srgbClr val="7B8DB0"/>
          </a:solidFill>
          <a:ln w="12700">
            <a:solidFill>
              <a:srgbClr val="7B8D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03904" y="1143000"/>
            <a:ext cx="1508760" cy="23774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03904" y="1143000"/>
            <a:ext cx="150876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475488" cy="47548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95344" y="17830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Define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Targets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95344" y="2304288"/>
            <a:ext cx="1325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X: 8 features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y1: casual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y2: registered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12664" y="2194560"/>
            <a:ext cx="201168" cy="54864"/>
          </a:xfrm>
          <a:prstGeom prst="rect">
            <a:avLst/>
          </a:prstGeom>
          <a:solidFill>
            <a:srgbClr val="7B8DB0"/>
          </a:solidFill>
          <a:ln w="12700">
            <a:solidFill>
              <a:srgbClr val="7B8D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13832" y="1143000"/>
            <a:ext cx="1508760" cy="23774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13832" y="1143000"/>
            <a:ext cx="150876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5896" y="1261872"/>
            <a:ext cx="475488" cy="475488"/>
          </a:xfrm>
          <a:prstGeom prst="ellipse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5896" y="12618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605272" y="17830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Train-Test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Split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05272" y="2304288"/>
            <a:ext cx="1325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test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random_state=42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022592" y="2194560"/>
            <a:ext cx="201168" cy="54864"/>
          </a:xfrm>
          <a:prstGeom prst="rect">
            <a:avLst/>
          </a:prstGeom>
          <a:solidFill>
            <a:srgbClr val="7B8DB0"/>
          </a:solidFill>
          <a:ln w="12700">
            <a:solidFill>
              <a:srgbClr val="7B8DB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23760" y="1143000"/>
            <a:ext cx="1508760" cy="23774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23760" y="1143000"/>
            <a:ext cx="15087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35824" y="1261872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35824" y="12618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315200" y="17830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Preprocessing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Pipeline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315200" y="2304288"/>
            <a:ext cx="1325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temp, atemp,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 | passthrough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1480" y="365760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FEATURE SET (8 features)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11480" y="3950208"/>
            <a:ext cx="4069080" cy="237744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395020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874520" y="395020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passthrough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11480" y="4206240"/>
            <a:ext cx="4069080" cy="237744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" y="420624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874520" y="420624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passthrough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1480" y="4462272"/>
            <a:ext cx="4069080" cy="237744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4462272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874520" y="4462272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passthrough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1480" y="4718304"/>
            <a:ext cx="4069080" cy="237744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2920" y="471830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874520" y="4718304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17720" y="3950208"/>
            <a:ext cx="4069080" cy="237744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09160" y="395020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atemp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080760" y="395020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17720" y="4206240"/>
            <a:ext cx="4069080" cy="237744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420624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080760" y="420624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17720" y="4462272"/>
            <a:ext cx="4069080" cy="237744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09160" y="4462272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weathersit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080760" y="4462272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passthrough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617720" y="4718304"/>
            <a:ext cx="4069080" cy="237744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09160" y="471830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080760" y="4718304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passthrough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MODELING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393192"/>
            <a:ext cx="8321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LightGBM Wins Across Both Targets (5-Fold CV)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graphicFrame>
        <p:nvGraphicFramePr>
          <p:cNvPr id="6" name="Chart 0"/>
          <p:cNvGraphicFramePr/>
          <p:nvPr/>
        </p:nvGraphicFramePr>
        <p:xfrm>
          <a:off x="411480" y="1051560"/>
          <a:ext cx="411480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663440" y="1051560"/>
          <a:ext cx="411480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411480" y="3337560"/>
            <a:ext cx="8321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 SUMMARY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566160"/>
          <a:ext cx="8321040" cy="9144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A0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A0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Casual RMSE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A0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Casual R²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A0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RMSE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A0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R²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D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0E5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D2A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E5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D2A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E5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D2A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E5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D2A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E5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D2A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120.54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MODELING — FINAL MODEL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393192"/>
            <a:ext cx="8321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LightGBM: How It Works &amp; Best Hyperparameters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60120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78992"/>
            <a:ext cx="4023360" cy="2834640"/>
          </a:xfrm>
          <a:prstGeom prst="rect">
            <a:avLst/>
          </a:prstGeom>
          <a:solidFill>
            <a:srgbClr val="141D35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078992"/>
            <a:ext cx="54864" cy="28346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4300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LIGHTGBM WORKS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144475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an ensemble of decision trees sequentially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187452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190195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tree corrects errors of the previous one (gradient boosting)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4360" y="233172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235915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leaf-wise growth → finds best leaf to split, not level-wise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94360" y="278892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24128" y="281635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Histogram-based splits make it fast on large datasets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4360" y="324612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327355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prediction = weighted sum of all trees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663440" y="107899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HYPERPARAMETERS (GridSearchCV · 54 combos × 5 folds)</a:t>
            </a:r>
            <a:endParaRPr lang="en-US" sz="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371600"/>
          <a:ext cx="4023360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A0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A0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Casual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A0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6B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D4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learning_rate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D4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D4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 (no limit)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D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num_leaves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00D4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4663440" y="292608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PERFORMANCE AFTER TUNING (TEST SET)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4663440" y="3200400"/>
            <a:ext cx="1920240" cy="68580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63440" y="325526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31.03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4663440" y="362102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Casual RMSE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684264" y="3200400"/>
            <a:ext cx="1920240" cy="68580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684264" y="325526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0.607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6684264" y="362102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Casual R²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663440" y="3977640"/>
            <a:ext cx="1920240" cy="68580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663440" y="403250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71.79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663440" y="439826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RMSE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6684264" y="3977640"/>
            <a:ext cx="1920240" cy="68580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84264" y="403250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0.758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684264" y="439826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R²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11480" y="4041648"/>
            <a:ext cx="4023360" cy="804672"/>
          </a:xfrm>
          <a:prstGeom prst="rect">
            <a:avLst/>
          </a:prstGeom>
          <a:solidFill>
            <a:srgbClr val="0D122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11480" y="4041648"/>
            <a:ext cx="54864" cy="8046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4360" y="409651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LIMITATION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594360" y="427939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of 0.61 (casual) suggests ~39% variance unexplained — likely due to missing features: weekday/weekend flag, station location, and special events.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MODELING — FEATURE IMPORTANCE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Hour of Day Dominates Both Models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graphicFrame>
        <p:nvGraphicFramePr>
          <p:cNvPr id="6" name="Chart 0"/>
          <p:cNvGraphicFramePr/>
          <p:nvPr/>
        </p:nvGraphicFramePr>
        <p:xfrm>
          <a:off x="411480" y="1051560"/>
          <a:ext cx="402336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617720" y="1051560"/>
          <a:ext cx="411480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411480" y="4005072"/>
            <a:ext cx="2606040" cy="86868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21208" y="4059936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21208" y="431596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predictor for both. Registered shows sharper peak due to commuting patterns.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227832" y="4005072"/>
            <a:ext cx="2606040" cy="86868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337560" y="4059936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hum &amp; temp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337560" y="431596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features rank 2nd &amp; 3rd — casual users far more sensitive to comfort.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044184" y="4005072"/>
            <a:ext cx="2606040" cy="86868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153912" y="4059936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holiday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153912" y="431596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predictor — holidays have minimal impact on overall hourly demand.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BUSINESS IMPACT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393192"/>
            <a:ext cx="8321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ML Model Cuts Redistribution Waste by ~20%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78992"/>
            <a:ext cx="3931920" cy="28346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78992"/>
            <a:ext cx="393192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WITHOUT ML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57276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estimation based on historical averages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193852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Oversupply at quiet stations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234086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Undersupply at busy stations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27432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Reactive redistribution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4360" y="31455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High ops cost from wasted trips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00600" y="1078992"/>
            <a:ext cx="3931920" cy="283464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1078992"/>
            <a:ext cx="393192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E5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WITH ML MODEL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92040" y="157276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hourly demand forecast per user segment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83480" y="193852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Predict casual demand (MAE ≈ 17 bikes/hr)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83480" y="234086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Predict registered demand (MAE ≈ 47 bikes/hr)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983480" y="27432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Proactive bike redistribution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83480" y="31455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Reduced wasted redistribution trips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87952" y="2103120"/>
            <a:ext cx="594360" cy="59436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87952" y="21031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4041648"/>
            <a:ext cx="8321040" cy="868680"/>
          </a:xfrm>
          <a:prstGeom prst="rect">
            <a:avLst/>
          </a:prstGeom>
          <a:solidFill>
            <a:srgbClr val="071A0F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041648"/>
            <a:ext cx="54864" cy="86868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09651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SAVINGS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0080" y="431596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redistribution cost = Rp 50,000/bike/day and the model reduces unnecessary redistribution by 20%,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fleet of 1,000 bikes: 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10,000,000 saved/day  ·  ~Rp 3.6 Billion/year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CONCLUSION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43000"/>
            <a:ext cx="4023360" cy="173736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143000"/>
            <a:ext cx="54864" cy="173736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25880"/>
            <a:ext cx="411480" cy="4114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258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13258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LightGBM is the Best Model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78308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Consistently outperforms Linear Regression, Random Forest, and XGBoost on both targets. Post-tuning: Casual RMSE = 31.03 (R² = 0.607) · Registered RMSE = 71.79 (R² = 0.758).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023360" cy="173736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143000"/>
            <a:ext cx="54864" cy="173736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1325880"/>
            <a:ext cx="411480" cy="411480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3258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21808" y="13258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Registered Users Are More Predictable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178308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R² (0.758 vs 0.607) reflects commuters' consistent patterns. Casual users are more situational and weather-sensitive, making them harder to forecast.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3154680"/>
            <a:ext cx="4023360" cy="173736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3154680"/>
            <a:ext cx="54864" cy="173736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337560"/>
            <a:ext cx="411480" cy="411480"/>
          </a:xfrm>
          <a:prstGeom prst="ellipse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337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33375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Hour (hr) is the Most Powerful Feature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379476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 of day dominates feature importance for both models. Temperature drives casual demand; year trend drives registered demand growth from 2011→2012.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3154680"/>
            <a:ext cx="4023360" cy="173736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63440" y="3154680"/>
            <a:ext cx="54864" cy="17373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3337560"/>
            <a:ext cx="411480" cy="4114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337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21808" y="33375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Separate Models Add Real Business Value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379476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casual and registered separately enables targeted fleet management — rebalance for commuters at 08:00 &amp; 17:00; for leisure riders at 12:00–15:00.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RECOMMENDATION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78992"/>
            <a:ext cx="4023360" cy="1115568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078992"/>
            <a:ext cx="54864" cy="111556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170432"/>
            <a:ext cx="365760" cy="36576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1704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33272" y="117043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Add Weekday / Weekend Feature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153619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Casual users behave very differently on workdays vs weekends. This single feature could significantly improve casual model R².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2340864"/>
            <a:ext cx="4023360" cy="1115568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2340864"/>
            <a:ext cx="54864" cy="11155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432304"/>
            <a:ext cx="365760" cy="365760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4323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33272" y="2432304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Incorporate Station Location Data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279806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features (proximity to CBD, transport hubs, population density) would enable per-station demand prediction — more actionable for ops.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1480" y="3602736"/>
            <a:ext cx="4023360" cy="1115568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3602736"/>
            <a:ext cx="54864" cy="111556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694176"/>
            <a:ext cx="365760" cy="365760"/>
          </a:xfrm>
          <a:prstGeom prst="ellipse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6941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33272" y="3694176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Explore Time Series Approaches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405993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SARIMA, Prophet, or LSTM could better capture sequential demand patterns. Consider as a complementary layer on top of ML predictions.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4023360" cy="1115568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63440" y="1078992"/>
            <a:ext cx="54864" cy="11155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1170432"/>
            <a:ext cx="365760" cy="3657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11704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85232" y="117043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Deep-Dive Residual Analysis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153619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hours where the model consistently over/under-predicts — extreme peaks and quiet nights. Refine or override the model for these edge cases.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63440" y="2340864"/>
            <a:ext cx="4023360" cy="1115568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2340864"/>
            <a:ext cx="54864" cy="11155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00600" y="2432304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24323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0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285232" y="2432304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 as REST API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46320" y="279806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both models with FastAPI + Docker. Integrate into fleet management dashboard for real-time hourly demand forecasts by station zone.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097280"/>
            <a:ext cx="4572000" cy="4572000"/>
          </a:xfrm>
          <a:prstGeom prst="ellipse">
            <a:avLst/>
          </a:prstGeom>
          <a:solidFill>
            <a:srgbClr val="0D1A35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-548640"/>
            <a:ext cx="3200400" cy="3200400"/>
          </a:xfrm>
          <a:prstGeom prst="ellipse">
            <a:avLst/>
          </a:prstGeom>
          <a:solidFill>
            <a:srgbClr val="111E3A"/>
          </a:solidFill>
          <a:ln w="6350">
            <a:solidFill>
              <a:srgbClr val="1A30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371600" y="3200400"/>
            <a:ext cx="3200400" cy="3200400"/>
          </a:xfrm>
          <a:prstGeom prst="ellipse">
            <a:avLst/>
          </a:prstGeom>
          <a:solidFill>
            <a:srgbClr val="0D1A35"/>
          </a:solidFill>
          <a:ln w="10160">
            <a:solidFill>
              <a:srgbClr val="1A3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411480" y="233172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dirty="0">
                <a:solidFill>
                  <a:srgbClr val="000000"/>
                </a:solidFill>
              </a:rPr>
              <a:t>🚲</a:t>
            </a:r>
            <a:endParaRPr lang="en-US" sz="5200" dirty="0"/>
          </a:p>
        </p:txBody>
      </p:sp>
      <p:sp>
        <p:nvSpPr>
          <p:cNvPr id="8" name="Shape 6"/>
          <p:cNvSpPr/>
          <p:nvPr/>
        </p:nvSpPr>
        <p:spPr>
          <a:xfrm>
            <a:off x="411480" y="3337560"/>
            <a:ext cx="5029200" cy="27432"/>
          </a:xfrm>
          <a:prstGeom prst="rect">
            <a:avLst/>
          </a:prstGeom>
          <a:solidFill>
            <a:srgbClr val="253354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4930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Fahrizal Safalah ·  </a:t>
            </a:r>
            <a:r>
              <a:rPr lang="en-US" sz="11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BikeShare Co.  ·  Capstone Project Module 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977640"/>
            <a:ext cx="1920240" cy="86868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40416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R² 0.758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" y="444398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Model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60320" y="3977640"/>
            <a:ext cx="1920240" cy="86868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40416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R² 0.607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560320" y="444398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Casual Model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3977640"/>
            <a:ext cx="1920240" cy="868680"/>
          </a:xfrm>
          <a:prstGeom prst="rect">
            <a:avLst/>
          </a:prstGeom>
          <a:solidFill>
            <a:srgbClr val="1A2540"/>
          </a:solidFill>
          <a:ln w="6350">
            <a:solidFill>
              <a:srgbClr val="2533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40416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E5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LightGBM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09160" y="444398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A35"/>
          </a:solidFill>
          <a:ln w="12700">
            <a:solidFill>
              <a:srgbClr val="2533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7B8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 ·  REGRESSION  ·  DEMAND FORECASTING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1456</Words>
  <Application>Microsoft Office PowerPoint</Application>
  <PresentationFormat>On-screen Show (16:9)</PresentationFormat>
  <Paragraphs>333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Bike Sharing Demand Prediction</dc:title>
  <dc:subject>PptxGenJS Presentation</dc:subject>
  <dc:creator>zal</dc:creator>
  <cp:lastModifiedBy>fahrizal safalah</cp:lastModifiedBy>
  <cp:revision>2</cp:revision>
  <dcterms:created xsi:type="dcterms:W3CDTF">2026-05-09T02:45:07Z</dcterms:created>
  <dcterms:modified xsi:type="dcterms:W3CDTF">2026-05-12T02:01:45Z</dcterms:modified>
</cp:coreProperties>
</file>